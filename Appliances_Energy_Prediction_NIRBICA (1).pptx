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38D3C7E-6870-0326-25E8-30A39460059F}">
          <p14:sldIdLst>
            <p14:sldId id="256"/>
          </p14:sldIdLst>
        </p14:section>
        <p14:section name="Data" id="{C8E7811E-961D-7906-C790-A935D31BAB1E}">
          <p14:sldIdLst>
            <p14:sldId id="257"/>
            <p14:sldId id="258"/>
            <p14:sldId id="259"/>
          </p14:sldIdLst>
        </p14:section>
        <p14:section name="Models" id="{1D55622C-B4B9-AE6E-750C-B2FDD2E97FB0}">
          <p14:sldIdLst>
            <p14:sldId id="260"/>
            <p14:sldId id="261"/>
          </p14:sldIdLst>
        </p14:section>
        <p14:section name="Wrap-up" id="{5F732E11-9B31-FDDB-F3AD-8BDE26822C1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-786" y="-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F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2263F"/>
                </a:solidFill>
                <a:latin typeface="+mn-lt"/>
              </a:rPr>
              <a:t>R² Score by Algorithm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7FC8C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FC8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C8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C8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C8C8"/>
              </a:solidFill>
              <a:effectLst/>
            </c:spPr>
          </c:dPt>
          <c:dLbls>
            <c:numFmt formatCode="0.0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2263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Linear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AdaBoost</c:v>
                </c:pt>
                <c:pt idx="4">
                  <c:v>Gradient 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</c:v>
                </c:pt>
                <c:pt idx="1">
                  <c:v>0.54</c:v>
                </c:pt>
                <c:pt idx="2">
                  <c:v>0.74</c:v>
                </c:pt>
                <c:pt idx="3">
                  <c:v>0.12</c:v>
                </c:pt>
                <c:pt idx="4">
                  <c:v>0.41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1914880"/>
        <c:axId val="139820352"/>
      </c:barChart>
      <c:catAx>
        <c:axId val="41914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263F"/>
                </a:solidFill>
                <a:latin typeface="+mn-lt"/>
              </a:defRPr>
            </a:pPr>
            <a:endParaRPr lang="en-US"/>
          </a:p>
        </c:txPr>
        <c:crossAx val="139820352"/>
        <c:crosses val="autoZero"/>
        <c:auto val="1"/>
        <c:lblAlgn val="ctr"/>
        <c:lblOffset val="100"/>
        <c:noMultiLvlLbl val="1"/>
      </c:catAx>
      <c:valAx>
        <c:axId val="1398203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41914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4533C-5E87-4FB4-93CE-D63CA07C2F12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AB38B-C6B7-4653-A7F6-F289BCD02F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73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5303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40080" y="1554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Appliances Energy Prediction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dirty="0">
                <a:solidFill>
                  <a:schemeClr val="accent5"/>
                </a:solidFill>
              </a:rPr>
              <a:t>Machine Learning Regression </a:t>
            </a:r>
            <a:r>
              <a:rPr lang="en-US" sz="1800" dirty="0" smtClean="0">
                <a:solidFill>
                  <a:schemeClr val="accent5"/>
                </a:solidFill>
              </a:rPr>
              <a:t>Project</a:t>
            </a:r>
            <a:br>
              <a:rPr lang="en-US" sz="1800" dirty="0" smtClean="0">
                <a:solidFill>
                  <a:schemeClr val="accent5"/>
                </a:solidFill>
              </a:rPr>
            </a:br>
            <a:r>
              <a:rPr lang="en-US" dirty="0" smtClean="0">
                <a:solidFill>
                  <a:schemeClr val="accent5"/>
                </a:solidFill>
              </a:rPr>
              <a:t/>
            </a:r>
            <a:br>
              <a:rPr lang="en-US" dirty="0" smtClean="0">
                <a:solidFill>
                  <a:schemeClr val="accent5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Done By </a:t>
            </a:r>
            <a:r>
              <a:rPr lang="en-US" dirty="0" smtClean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rgbClr val="FFC000"/>
                </a:solidFill>
              </a:rPr>
              <a:t>NIRBICA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/>
            </a:r>
            <a:br>
              <a:rPr lang="en-US" dirty="0" smtClean="0">
                <a:solidFill>
                  <a:schemeClr val="accent5"/>
                </a:solidFill>
              </a:rPr>
            </a:b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32918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373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About 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14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F8A8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63220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Source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UCI Machine Learning Repository (ID 374)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325880"/>
            <a:ext cx="2514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rgbClr val="1F8A8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6322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Type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Multivariate time-series 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2514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1F8A8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27812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Period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About 4.5 months, every 10 minutes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246120" y="2971800"/>
            <a:ext cx="2514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rgbClr val="1F8A8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444" y="327812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02336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34290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Appliances energy use (Wh)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126480" y="132588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3550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Input features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355080" y="21031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Indoor temperature &amp; humidity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Outdoor weather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Pressure, wind, visibility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Lights energy use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1"/>
                </a:solidFill>
              </a:rPr>
              <a:t>                    Shape </a:t>
            </a:r>
            <a:r>
              <a:rPr lang="en-US" sz="3200" b="1" dirty="0">
                <a:solidFill>
                  <a:schemeClr val="tx1"/>
                </a:solidFill>
              </a:rPr>
              <a:t>&amp; Size of 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1545" y="2103120"/>
            <a:ext cx="2912416" cy="2170912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77006" y="2502776"/>
            <a:ext cx="2481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19,735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277006" y="327134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Rows (observations)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1902" y="2136753"/>
            <a:ext cx="2991449" cy="2137279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30608" y="2502776"/>
            <a:ext cx="2694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 smtClean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279315" y="3262411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 smtClean="0">
                <a:solidFill>
                  <a:schemeClr val="tx1"/>
                </a:solidFill>
              </a:rPr>
              <a:t>Columns </a:t>
            </a:r>
            <a:r>
              <a:rPr lang="en-US" sz="1600" dirty="0">
                <a:solidFill>
                  <a:schemeClr val="tx1"/>
                </a:solidFill>
              </a:rPr>
              <a:t>in the </a:t>
            </a:r>
            <a:r>
              <a:rPr lang="en-US" sz="1600" dirty="0" smtClean="0">
                <a:solidFill>
                  <a:schemeClr val="tx1"/>
                </a:solidFill>
              </a:rPr>
              <a:t>CSV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417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EDA &amp; Preprocessing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81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CSV file using Pandas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81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Shape &amp; columns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rows, columns and data types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481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Summary stats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Mean, min, max and spread of each feature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72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values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Checked: none were found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72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Duplicates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Checked: no duplicate rows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172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 &amp; scale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Dropped date; applied StandardScaler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Algorithms &amp; Metrics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 Algorithms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7490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1965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Linear Regression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37490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35000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677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37490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88036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7980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37490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41071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410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328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AdaBoost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37490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94106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858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 Boosting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 Metrics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72000" y="173736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size of errors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73736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of squared errors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310896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0916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Error in Wh (√MSE)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310896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1228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Score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How much variation is explained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Lower MAE / MSE / RMSE is better.  Higher R² is better.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Best Algorithm: Random Forest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23444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280160"/>
            <a:ext cx="3108960" cy="33375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7607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R² 0.74  •  RMSE 22.13  •  MAE 14.69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Why it is best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69748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Averages many trees, so less overfitting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Captures non-linear patterns Linear Regression misses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Lowest errors, highest R² of all five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About the Project &amp;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F8A8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159882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About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Predicts how much energy household appliances use (Wh) from temperature, humidity and weather data.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rgbClr val="1F8A8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508" y="159882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Uses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19456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Smart home energy monitoring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Lower electricity bills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Power demand planning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148" y="159882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19456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 models tested. Random Forest won with R² = 0.74 and RMSE = 22.13 Wh. ML predicts appliance energy well.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1463040" y="2194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chemeClr val="bg1"/>
                </a:solidFill>
              </a:rPr>
              <a:t>        Thank </a:t>
            </a:r>
            <a:r>
              <a:rPr lang="en-US" sz="4400" b="1" dirty="0">
                <a:solidFill>
                  <a:schemeClr val="bg1"/>
                </a:solidFill>
              </a:rPr>
              <a:t>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2918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373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nergy Teal">
  <a:themeElements>
    <a:clrScheme name="Energy Teal">
      <a:dk1>
        <a:srgbClr val="12263F"/>
      </a:dk1>
      <a:lt1>
        <a:srgbClr val="FFFFFF"/>
      </a:lt1>
      <a:dk2>
        <a:srgbClr val="0F5C63"/>
      </a:dk2>
      <a:lt2>
        <a:srgbClr val="EAF4F4"/>
      </a:lt2>
      <a:accent1>
        <a:srgbClr val="1F8A8A"/>
      </a:accent1>
      <a:accent2>
        <a:srgbClr val="F5A623"/>
      </a:accent2>
      <a:accent3>
        <a:srgbClr val="5B7083"/>
      </a:accent3>
      <a:accent4>
        <a:srgbClr val="E4572E"/>
      </a:accent4>
      <a:accent5>
        <a:srgbClr val="7FC8C8"/>
      </a:accent5>
      <a:accent6>
        <a:srgbClr val="2E4A6B"/>
      </a:accent6>
      <a:hlink>
        <a:srgbClr val="1F8A8A"/>
      </a:hlink>
      <a:folHlink>
        <a:srgbClr val="5B7083"/>
      </a:folHlink>
    </a:clrScheme>
    <a:fontScheme name="Energy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313</Words>
  <Application>Microsoft Office PowerPoint</Application>
  <PresentationFormat>On-screen Show (16:9)</PresentationFormat>
  <Paragraphs>95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Energy Teal</vt:lpstr>
      <vt:lpstr>Appliances Energy Prediction</vt:lpstr>
      <vt:lpstr>About the Dataset</vt:lpstr>
      <vt:lpstr>                    Shape &amp; Size of the Data</vt:lpstr>
      <vt:lpstr>EDA &amp; Preprocessing Steps</vt:lpstr>
      <vt:lpstr>Algorithms &amp; Metrics Used</vt:lpstr>
      <vt:lpstr>Best Algorithm: Random Forest</vt:lpstr>
      <vt:lpstr>About the Project &amp; Conclusion</vt:lpstr>
      <vt:lpstr>        Thank You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skbca</cp:lastModifiedBy>
  <cp:revision>3</cp:revision>
  <dcterms:created xsi:type="dcterms:W3CDTF">2026-10-07T08:32:15Z</dcterms:created>
  <dcterms:modified xsi:type="dcterms:W3CDTF">2026-10-07T09:01:54Z</dcterms:modified>
</cp:coreProperties>
</file>